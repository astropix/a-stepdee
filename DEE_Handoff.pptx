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35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B2A0-C963-B4C8-9E66-2536AA002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D1778-9E68-BDC8-CD69-2B674CED1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1F294-0E69-344B-1925-8308209F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D7ED9-FEBA-6637-DA8F-B9046BAB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AD081-72D5-2964-4F00-A9B78F3C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CA4F-5C6F-89CF-641B-E201C88F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7C004-3CF8-2258-F93F-E0303ECB0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4965C-B4EB-F412-4B54-F64E1107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3F3BC-3B86-626C-AE0A-06E3668E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42364-64C9-0FD7-AEBB-BABE5F7A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7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FDAF-DF0B-BF36-B17E-7D24139B7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28D8C-2392-48B2-61FD-EDD6194F4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091B-E4D8-589E-ADC0-FC96CB36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3A78-6CC1-1B23-06FE-052EB970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26C9B-C5D0-4B1A-9ADD-CE272737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3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9D0A-E9C6-3865-15C9-083867A3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A540-2F1C-482B-742C-F95541C04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BBE8F-8BF7-C11A-C7D3-EDD034BB7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4A975-E890-B02B-A68B-C354CEE6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01A89-FB03-EF7C-1DC9-E021A09D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4403E-221D-D2B4-BE3C-000A8DD0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9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4516-EF36-4A5A-8792-D9CAB3CA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537E-EC50-F90D-9976-BB597254A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D4BB0-4D7C-D263-B344-D2075BA9C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FA30F-C65F-907C-0C0B-B432AED71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F3D0D-D57B-A352-6F53-5A6448E54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86342-D297-DCAA-7B9C-4ABDD4AE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4CE421-5C2C-20CF-6A19-04B7A5DF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5AB2E-DB1F-687B-21AC-01A31B42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7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6C06-0F9A-EC60-F529-9CBECDD4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6F8EC-C845-448C-9E07-3D0665D0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281F2-CC6A-00F9-5DEF-19525A7C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4D308-0031-9FCA-8571-A69A0AAB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0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D5176-F2F8-867E-6407-BD4845A80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8426CD-5F83-348B-DCDF-EB908D31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6848C-5ECA-FD0B-0E0D-8B433CCF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3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FB22-A082-BA36-7B5A-62171D44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30291-0087-F4F7-1525-391A92C67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977AF-6E99-DAF8-1F42-2C9916E28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5F249-7AD5-C57E-9DE1-60F6F84A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BEFDE-F1F0-E3F5-2349-17F59B1F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5D802-C783-1EF7-CA94-FE52977F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3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BA16-782A-45EE-DF2F-545A8E87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2CF96-F58B-F2A6-429A-7A7EE16DD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C3ACC-89E7-7073-0DDC-835702EEF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F1F7C-0B3B-D103-5546-7C996969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04A48-0171-6DB9-078B-7A00E3AB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1FD66-7A5D-5C80-72DC-D2A4C35A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BAA2-5D13-A9A9-761D-035D07BB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7FFF8-C215-DDB2-3271-0C2A63F3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DCDDF-431C-F857-903B-24A8D760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05928-AB14-A45A-CAAF-AC567E20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8A3B-ECF8-06DE-FBFD-B5D0BC2B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4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04339-102B-6DF9-EC54-CB6158A9E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AC5E4-A908-2096-5917-E76F4B4FE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A562-5994-8AF3-AE0E-6B43C988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78989-9562-71A6-9A1E-A2E06BCC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918F8-6883-570C-C34C-46FE2638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1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9D104-81E2-A66C-182F-84CA9D2A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53647-05E1-7873-97B1-5E7D26D19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739D8-A5B0-F3B4-C630-B0684E6DD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469F4-E5C2-8E48-8DBF-48A7AB7D875A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E7A4-CE47-8150-FEF9-C30641E93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56923-0AE7-DFD9-EE0F-FCFEF43C3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619E2-5082-3348-958E-CEDC7A2BC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7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1B65-E4BB-AD03-AAF8-F4F72AA2C3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A-STEP DEE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7CA7C-4A71-E0FD-A8E3-41FF69A7B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Zac Metzler Dec 11, 2025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AstroPix</a:t>
            </a:r>
            <a:r>
              <a:rPr lang="en-US" dirty="0"/>
              <a:t>/A-</a:t>
            </a:r>
            <a:r>
              <a:rPr lang="en-US" dirty="0" err="1"/>
              <a:t>STEPdee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25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5A7E-F413-1723-C032-C4AE3ACF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What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20FA0-1DE9-0D6C-6EFF-0BD962EC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34" t="62577" r="33911"/>
          <a:stretch>
            <a:fillRect/>
          </a:stretch>
        </p:blipFill>
        <p:spPr>
          <a:xfrm>
            <a:off x="838200" y="1377399"/>
            <a:ext cx="1915297" cy="1672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E22AE3-0F8E-980F-354B-F21B421C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0" y="6018996"/>
            <a:ext cx="2970579" cy="57092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EF7FBD-6A96-5E76-5B15-15576E412016}"/>
              </a:ext>
            </a:extLst>
          </p:cNvPr>
          <p:cNvSpPr/>
          <p:nvPr/>
        </p:nvSpPr>
        <p:spPr>
          <a:xfrm>
            <a:off x="508792" y="4877290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Simulation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05A812-E592-B53E-539F-8ECCD1F4A921}"/>
              </a:ext>
            </a:extLst>
          </p:cNvPr>
          <p:cNvSpPr/>
          <p:nvPr/>
        </p:nvSpPr>
        <p:spPr>
          <a:xfrm>
            <a:off x="508792" y="328398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Measured BG Data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4E91DE-4D0B-6F56-F47B-5098DD0AC5B4}"/>
              </a:ext>
            </a:extLst>
          </p:cNvPr>
          <p:cNvSpPr/>
          <p:nvPr/>
        </p:nvSpPr>
        <p:spPr>
          <a:xfrm>
            <a:off x="3731836" y="797442"/>
            <a:ext cx="5071922" cy="5792476"/>
          </a:xfrm>
          <a:prstGeom prst="roundRect">
            <a:avLst/>
          </a:prstGeom>
          <a:solidFill>
            <a:srgbClr val="156082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/>
              <a:t>DEE.py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9FB7EF-BC59-844D-197D-33CAC404A0E0}"/>
              </a:ext>
            </a:extLst>
          </p:cNvPr>
          <p:cNvSpPr/>
          <p:nvPr/>
        </p:nvSpPr>
        <p:spPr>
          <a:xfrm>
            <a:off x="4990396" y="487728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ASTEP_RevCal.py</a:t>
            </a:r>
            <a:endParaRPr lang="en-US" dirty="0"/>
          </a:p>
          <a:p>
            <a:pPr algn="ctr"/>
            <a:r>
              <a:rPr lang="en-US" dirty="0"/>
              <a:t>Convert (</a:t>
            </a:r>
            <a:r>
              <a:rPr lang="en-US" dirty="0" err="1"/>
              <a:t>x,y,z,E</a:t>
            </a:r>
            <a:r>
              <a:rPr lang="en-US" dirty="0"/>
              <a:t>) to (layer, chip, pixel, </a:t>
            </a:r>
            <a:r>
              <a:rPr lang="en-US" dirty="0" err="1"/>
              <a:t>ToT</a:t>
            </a:r>
            <a:r>
              <a:rPr lang="en-US" dirty="0"/>
              <a:t>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CC39F7-92D5-4A6E-2B47-55CCE6DFB12C}"/>
              </a:ext>
            </a:extLst>
          </p:cNvPr>
          <p:cNvSpPr/>
          <p:nvPr/>
        </p:nvSpPr>
        <p:spPr>
          <a:xfrm>
            <a:off x="4990396" y="3276863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ASTEP_Add_BG.py</a:t>
            </a:r>
            <a:endParaRPr lang="en-US" dirty="0"/>
          </a:p>
          <a:p>
            <a:pPr algn="ctr"/>
            <a:r>
              <a:rPr lang="en-US" dirty="0"/>
              <a:t>Add BG (optional)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5A7561-69F3-F1C1-E4CC-28C16CA5C96E}"/>
              </a:ext>
            </a:extLst>
          </p:cNvPr>
          <p:cNvCxnSpPr/>
          <p:nvPr/>
        </p:nvCxnSpPr>
        <p:spPr>
          <a:xfrm>
            <a:off x="3188569" y="5272705"/>
            <a:ext cx="147912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D0F7AB-CE54-54AF-4E53-C7C0AF0E0E67}"/>
              </a:ext>
            </a:extLst>
          </p:cNvPr>
          <p:cNvCxnSpPr/>
          <p:nvPr/>
        </p:nvCxnSpPr>
        <p:spPr>
          <a:xfrm>
            <a:off x="3188569" y="3679405"/>
            <a:ext cx="1479124" cy="0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585978-6EDF-F16B-229B-276F13259085}"/>
              </a:ext>
            </a:extLst>
          </p:cNvPr>
          <p:cNvCxnSpPr>
            <a:cxnSpLocks/>
          </p:cNvCxnSpPr>
          <p:nvPr/>
        </p:nvCxnSpPr>
        <p:spPr>
          <a:xfrm flipV="1">
            <a:off x="6096000" y="4157330"/>
            <a:ext cx="0" cy="56602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EF5F6C-3CF3-F8FF-D361-5C8C9CEA2295}"/>
              </a:ext>
            </a:extLst>
          </p:cNvPr>
          <p:cNvCxnSpPr>
            <a:cxnSpLocks/>
          </p:cNvCxnSpPr>
          <p:nvPr/>
        </p:nvCxnSpPr>
        <p:spPr>
          <a:xfrm flipV="1">
            <a:off x="6096000" y="2484341"/>
            <a:ext cx="0" cy="56602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0201E8-19FD-CDD8-07A3-25414AF50804}"/>
              </a:ext>
            </a:extLst>
          </p:cNvPr>
          <p:cNvSpPr/>
          <p:nvPr/>
        </p:nvSpPr>
        <p:spPr>
          <a:xfrm>
            <a:off x="4990396" y="155205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ASTEP_Effects.py</a:t>
            </a:r>
            <a:endParaRPr lang="en-US" dirty="0"/>
          </a:p>
          <a:p>
            <a:pPr algn="ctr"/>
            <a:r>
              <a:rPr lang="en-US" dirty="0"/>
              <a:t>Handle Coincidence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246CE7-E891-9591-CC82-49D836F912E3}"/>
              </a:ext>
            </a:extLst>
          </p:cNvPr>
          <p:cNvCxnSpPr>
            <a:cxnSpLocks/>
          </p:cNvCxnSpPr>
          <p:nvPr/>
        </p:nvCxnSpPr>
        <p:spPr>
          <a:xfrm flipH="1" flipV="1">
            <a:off x="1689101" y="5716452"/>
            <a:ext cx="14177" cy="25421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FB4119-57E7-8B49-48B8-AF3855DC81C4}"/>
              </a:ext>
            </a:extLst>
          </p:cNvPr>
          <p:cNvCxnSpPr>
            <a:cxnSpLocks/>
          </p:cNvCxnSpPr>
          <p:nvPr/>
        </p:nvCxnSpPr>
        <p:spPr>
          <a:xfrm>
            <a:off x="1708891" y="2767354"/>
            <a:ext cx="0" cy="46685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A8CE63-6CA2-1DCD-84F3-8AAF0987C3C5}"/>
              </a:ext>
            </a:extLst>
          </p:cNvPr>
          <p:cNvCxnSpPr>
            <a:cxnSpLocks/>
          </p:cNvCxnSpPr>
          <p:nvPr/>
        </p:nvCxnSpPr>
        <p:spPr>
          <a:xfrm>
            <a:off x="7772400" y="1947475"/>
            <a:ext cx="168348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5CC56A-F3D7-A768-AC31-35F964A6AB81}"/>
              </a:ext>
            </a:extLst>
          </p:cNvPr>
          <p:cNvSpPr/>
          <p:nvPr/>
        </p:nvSpPr>
        <p:spPr>
          <a:xfrm>
            <a:off x="9632215" y="155205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 or h5 output file</a:t>
            </a:r>
          </a:p>
        </p:txBody>
      </p:sp>
    </p:spTree>
    <p:extLst>
      <p:ext uri="{BB962C8B-B14F-4D97-AF65-F5344CB8AC3E}">
        <p14:creationId xmlns:p14="http://schemas.microsoft.com/office/powerpoint/2010/main" val="228411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30529-C50A-57E2-8CBB-CD03E808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550A84-1424-FBE7-EF16-D91326B0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How do I use it?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8BE39-5CAB-B713-5CCA-3128A5D9E92B}"/>
              </a:ext>
            </a:extLst>
          </p:cNvPr>
          <p:cNvSpPr txBox="1"/>
          <p:nvPr/>
        </p:nvSpPr>
        <p:spPr>
          <a:xfrm>
            <a:off x="350875" y="1067679"/>
            <a:ext cx="90802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DEE.py</a:t>
            </a:r>
            <a:r>
              <a:rPr lang="en-US" sz="2000" dirty="0"/>
              <a:t> &lt;.sim file name&gt; &lt;Calibration &amp; Resolution file name&gt; </a:t>
            </a:r>
          </a:p>
          <a:p>
            <a:r>
              <a:rPr lang="en-US" sz="2000" dirty="0"/>
              <a:t>(--</a:t>
            </a:r>
            <a:r>
              <a:rPr lang="en-US" sz="2000" dirty="0" err="1"/>
              <a:t>ASTEP_BG_filename</a:t>
            </a:r>
            <a:r>
              <a:rPr lang="en-US" sz="2000" dirty="0"/>
              <a:t> &lt;path to a csv ASTEP background data&gt;) </a:t>
            </a:r>
          </a:p>
          <a:p>
            <a:r>
              <a:rPr lang="en-US" sz="2000" dirty="0"/>
              <a:t>(-h5) (--seed &lt;a seed number for smearing&gt;)</a:t>
            </a:r>
          </a:p>
          <a:p>
            <a:endParaRPr lang="en-US" sz="2000" dirty="0"/>
          </a:p>
          <a:p>
            <a:r>
              <a:rPr lang="en-US" sz="2000" dirty="0"/>
              <a:t>Calibration Array: (E [keV]) = Slope x (</a:t>
            </a:r>
            <a:r>
              <a:rPr lang="en-US" sz="2000" dirty="0" err="1"/>
              <a:t>ToT</a:t>
            </a:r>
            <a:r>
              <a:rPr lang="en-US" sz="2000" dirty="0"/>
              <a:t> [us]) + Intercept</a:t>
            </a:r>
          </a:p>
          <a:p>
            <a:r>
              <a:rPr lang="en-US" sz="2000" dirty="0"/>
              <a:t>Row # | Column # | Slope | Intercept</a:t>
            </a:r>
          </a:p>
          <a:p>
            <a:endParaRPr lang="en-US" sz="2000" dirty="0"/>
          </a:p>
          <a:p>
            <a:r>
              <a:rPr lang="en-US" sz="2000" dirty="0"/>
              <a:t>Resolution Array: (</a:t>
            </a:r>
            <a:r>
              <a:rPr lang="en-US" sz="2000" dirty="0" err="1"/>
              <a:t>sigma_ToT</a:t>
            </a:r>
            <a:r>
              <a:rPr lang="en-US" sz="2000" dirty="0"/>
              <a:t> [us]) = Slope x (</a:t>
            </a:r>
            <a:r>
              <a:rPr lang="en-US" sz="2000" dirty="0" err="1"/>
              <a:t>ToT</a:t>
            </a:r>
            <a:r>
              <a:rPr lang="en-US" sz="2000" dirty="0"/>
              <a:t> [us]) + Intercept</a:t>
            </a:r>
          </a:p>
          <a:p>
            <a:r>
              <a:rPr lang="en-US" sz="2000" dirty="0"/>
              <a:t>Row # | Column # | Slope | Intercept | minimum sigma [us]</a:t>
            </a:r>
          </a:p>
          <a:p>
            <a:endParaRPr lang="en-US" sz="2000" dirty="0"/>
          </a:p>
          <a:p>
            <a:r>
              <a:rPr lang="en-US" sz="2000" dirty="0"/>
              <a:t>Threshold Array (optional):</a:t>
            </a:r>
          </a:p>
          <a:p>
            <a:r>
              <a:rPr lang="en-US" sz="2000" dirty="0"/>
              <a:t>Row # | Column # | </a:t>
            </a:r>
            <a:r>
              <a:rPr lang="en-US" sz="2000" dirty="0" err="1"/>
              <a:t>ToT</a:t>
            </a:r>
            <a:r>
              <a:rPr lang="en-US" sz="2000" dirty="0"/>
              <a:t> Threshold [us]</a:t>
            </a:r>
          </a:p>
          <a:p>
            <a:endParaRPr lang="en-US" sz="2000" dirty="0"/>
          </a:p>
          <a:p>
            <a:r>
              <a:rPr lang="en-US" sz="2000" dirty="0"/>
              <a:t>Offset Array (optional):  defined as (column </a:t>
            </a:r>
            <a:r>
              <a:rPr lang="en-US" sz="2000" dirty="0" err="1"/>
              <a:t>ToT</a:t>
            </a:r>
            <a:r>
              <a:rPr lang="en-US" sz="2000" dirty="0"/>
              <a:t> [us]) - (row </a:t>
            </a:r>
            <a:r>
              <a:rPr lang="en-US" sz="2000" dirty="0" err="1"/>
              <a:t>ToT</a:t>
            </a:r>
            <a:r>
              <a:rPr lang="en-US" sz="2000" dirty="0"/>
              <a:t> [us])</a:t>
            </a:r>
          </a:p>
          <a:p>
            <a:r>
              <a:rPr lang="en-US" sz="2000" dirty="0"/>
              <a:t>Row # | Column # | Offset [us]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118DF1-5B77-89D1-40E3-6118D06C0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874" y="786808"/>
            <a:ext cx="1827407" cy="58547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544E14-BA50-C44D-9F22-47725C30C417}"/>
              </a:ext>
            </a:extLst>
          </p:cNvPr>
          <p:cNvSpPr txBox="1"/>
          <p:nvPr/>
        </p:nvSpPr>
        <p:spPr>
          <a:xfrm>
            <a:off x="9431078" y="16450"/>
            <a:ext cx="176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calibration file format:</a:t>
            </a:r>
          </a:p>
        </p:txBody>
      </p:sp>
    </p:spTree>
    <p:extLst>
      <p:ext uri="{BB962C8B-B14F-4D97-AF65-F5344CB8AC3E}">
        <p14:creationId xmlns:p14="http://schemas.microsoft.com/office/powerpoint/2010/main" val="321690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4D74-5096-B996-9677-21B2CF07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92" y="-257470"/>
            <a:ext cx="10515600" cy="1325563"/>
          </a:xfrm>
        </p:spPr>
        <p:txBody>
          <a:bodyPr/>
          <a:lstStyle/>
          <a:p>
            <a:r>
              <a:rPr lang="en-US" dirty="0"/>
              <a:t>What are the outputs?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BC947-0DF4-4DA5-B03A-4ADAE2DD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34" t="62577" r="33911"/>
          <a:stretch>
            <a:fillRect/>
          </a:stretch>
        </p:blipFill>
        <p:spPr>
          <a:xfrm>
            <a:off x="838200" y="1377399"/>
            <a:ext cx="1915297" cy="1672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B5B54-0BEE-20E2-EEF5-E7303173D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0" y="6018996"/>
            <a:ext cx="2970579" cy="570922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AD35078-A7B1-5685-6029-7C166B86B77E}"/>
              </a:ext>
            </a:extLst>
          </p:cNvPr>
          <p:cNvSpPr/>
          <p:nvPr/>
        </p:nvSpPr>
        <p:spPr>
          <a:xfrm>
            <a:off x="508792" y="4877290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Simulation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BB62C1-B7BE-F098-44C7-ED52F0AF91FF}"/>
              </a:ext>
            </a:extLst>
          </p:cNvPr>
          <p:cNvSpPr/>
          <p:nvPr/>
        </p:nvSpPr>
        <p:spPr>
          <a:xfrm>
            <a:off x="508792" y="328398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Measured BG 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7F833A-1A88-803E-831F-E3527445544C}"/>
              </a:ext>
            </a:extLst>
          </p:cNvPr>
          <p:cNvSpPr/>
          <p:nvPr/>
        </p:nvSpPr>
        <p:spPr>
          <a:xfrm>
            <a:off x="3731836" y="797442"/>
            <a:ext cx="5071922" cy="5792476"/>
          </a:xfrm>
          <a:prstGeom prst="roundRect">
            <a:avLst/>
          </a:prstGeom>
          <a:solidFill>
            <a:srgbClr val="156082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A-STEP DEE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B4F52F-3971-B37D-E9C6-524158C3CA58}"/>
              </a:ext>
            </a:extLst>
          </p:cNvPr>
          <p:cNvSpPr/>
          <p:nvPr/>
        </p:nvSpPr>
        <p:spPr>
          <a:xfrm>
            <a:off x="4990396" y="487728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 (</a:t>
            </a:r>
            <a:r>
              <a:rPr lang="en-US" dirty="0" err="1"/>
              <a:t>x,y,z,E</a:t>
            </a:r>
            <a:r>
              <a:rPr lang="en-US" dirty="0"/>
              <a:t>) to (layer, chip, pixel, </a:t>
            </a:r>
            <a:r>
              <a:rPr lang="en-US" dirty="0" err="1"/>
              <a:t>ToT</a:t>
            </a:r>
            <a:r>
              <a:rPr lang="en-US" dirty="0"/>
              <a:t>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724B58-08A0-EB0D-FBC2-4BAC10A3F1B7}"/>
              </a:ext>
            </a:extLst>
          </p:cNvPr>
          <p:cNvSpPr/>
          <p:nvPr/>
        </p:nvSpPr>
        <p:spPr>
          <a:xfrm>
            <a:off x="4990396" y="3276863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BG (optional)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7EF09E-E6C6-796C-C40F-8B254160A8B5}"/>
              </a:ext>
            </a:extLst>
          </p:cNvPr>
          <p:cNvCxnSpPr/>
          <p:nvPr/>
        </p:nvCxnSpPr>
        <p:spPr>
          <a:xfrm>
            <a:off x="3188569" y="5272705"/>
            <a:ext cx="147912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FB82B2-740A-287E-07DC-C8B23FCF48FB}"/>
              </a:ext>
            </a:extLst>
          </p:cNvPr>
          <p:cNvCxnSpPr/>
          <p:nvPr/>
        </p:nvCxnSpPr>
        <p:spPr>
          <a:xfrm>
            <a:off x="3188569" y="3679405"/>
            <a:ext cx="1479124" cy="0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491298-A0EC-9797-6BF9-E380DE47ED84}"/>
              </a:ext>
            </a:extLst>
          </p:cNvPr>
          <p:cNvCxnSpPr>
            <a:cxnSpLocks/>
          </p:cNvCxnSpPr>
          <p:nvPr/>
        </p:nvCxnSpPr>
        <p:spPr>
          <a:xfrm flipV="1">
            <a:off x="6096000" y="4157330"/>
            <a:ext cx="0" cy="56602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A75368-DE3C-D542-31F3-089F16A93B78}"/>
              </a:ext>
            </a:extLst>
          </p:cNvPr>
          <p:cNvCxnSpPr>
            <a:cxnSpLocks/>
          </p:cNvCxnSpPr>
          <p:nvPr/>
        </p:nvCxnSpPr>
        <p:spPr>
          <a:xfrm flipV="1">
            <a:off x="6096000" y="2484341"/>
            <a:ext cx="0" cy="56602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F4D0FE-06CF-C2B7-E0CC-CE7D00CD51CD}"/>
              </a:ext>
            </a:extLst>
          </p:cNvPr>
          <p:cNvSpPr/>
          <p:nvPr/>
        </p:nvSpPr>
        <p:spPr>
          <a:xfrm>
            <a:off x="4990396" y="155205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Coincidence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F4A812-150B-4DAB-4627-8E497ACB654D}"/>
              </a:ext>
            </a:extLst>
          </p:cNvPr>
          <p:cNvCxnSpPr>
            <a:cxnSpLocks/>
          </p:cNvCxnSpPr>
          <p:nvPr/>
        </p:nvCxnSpPr>
        <p:spPr>
          <a:xfrm flipH="1" flipV="1">
            <a:off x="1689101" y="5716452"/>
            <a:ext cx="14177" cy="25421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88BC5E-1AC0-7026-03E9-A0283BA67AA9}"/>
              </a:ext>
            </a:extLst>
          </p:cNvPr>
          <p:cNvCxnSpPr>
            <a:cxnSpLocks/>
          </p:cNvCxnSpPr>
          <p:nvPr/>
        </p:nvCxnSpPr>
        <p:spPr>
          <a:xfrm>
            <a:off x="1708891" y="2767354"/>
            <a:ext cx="0" cy="46685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CDD5FB-8FEC-5ABF-CA59-FBC8190F6AE4}"/>
              </a:ext>
            </a:extLst>
          </p:cNvPr>
          <p:cNvCxnSpPr>
            <a:cxnSpLocks/>
          </p:cNvCxnSpPr>
          <p:nvPr/>
        </p:nvCxnSpPr>
        <p:spPr>
          <a:xfrm>
            <a:off x="7772400" y="1947475"/>
            <a:ext cx="168348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83124A8-6378-B638-D63D-108E5CEFA5C8}"/>
              </a:ext>
            </a:extLst>
          </p:cNvPr>
          <p:cNvSpPr/>
          <p:nvPr/>
        </p:nvSpPr>
        <p:spPr>
          <a:xfrm>
            <a:off x="9632215" y="155205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 or h5 output file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3788DC-F38A-0F93-7EF6-F25B40454D5F}"/>
              </a:ext>
            </a:extLst>
          </p:cNvPr>
          <p:cNvCxnSpPr>
            <a:cxnSpLocks/>
          </p:cNvCxnSpPr>
          <p:nvPr/>
        </p:nvCxnSpPr>
        <p:spPr>
          <a:xfrm>
            <a:off x="7772400" y="3679405"/>
            <a:ext cx="1683488" cy="0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A17951D-B24A-ADF0-1E5C-0B6A5249D652}"/>
              </a:ext>
            </a:extLst>
          </p:cNvPr>
          <p:cNvSpPr/>
          <p:nvPr/>
        </p:nvSpPr>
        <p:spPr>
          <a:xfrm>
            <a:off x="9632215" y="328398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 or h5 output file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F38CDE-CA0E-B9F0-F67C-B89D790DF441}"/>
              </a:ext>
            </a:extLst>
          </p:cNvPr>
          <p:cNvCxnSpPr>
            <a:cxnSpLocks/>
          </p:cNvCxnSpPr>
          <p:nvPr/>
        </p:nvCxnSpPr>
        <p:spPr>
          <a:xfrm>
            <a:off x="7772400" y="5296955"/>
            <a:ext cx="168348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515D236-5CE8-FFB1-3B32-C2E20B9F11DE}"/>
              </a:ext>
            </a:extLst>
          </p:cNvPr>
          <p:cNvSpPr/>
          <p:nvPr/>
        </p:nvSpPr>
        <p:spPr>
          <a:xfrm>
            <a:off x="9632215" y="4901539"/>
            <a:ext cx="2388973" cy="79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 or h5 output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7FB8E-A57D-B02C-CB82-4EE9AE2F18CC}"/>
              </a:ext>
            </a:extLst>
          </p:cNvPr>
          <p:cNvSpPr txBox="1"/>
          <p:nvPr/>
        </p:nvSpPr>
        <p:spPr>
          <a:xfrm>
            <a:off x="9355285" y="4583429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73076-31B9-4819-17F8-8F1372753C51}"/>
              </a:ext>
            </a:extLst>
          </p:cNvPr>
          <p:cNvSpPr txBox="1"/>
          <p:nvPr/>
        </p:nvSpPr>
        <p:spPr>
          <a:xfrm>
            <a:off x="9355285" y="2813192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4FDBA3-04BD-8F54-EC66-BB7EFC078339}"/>
              </a:ext>
            </a:extLst>
          </p:cNvPr>
          <p:cNvSpPr txBox="1"/>
          <p:nvPr/>
        </p:nvSpPr>
        <p:spPr>
          <a:xfrm>
            <a:off x="9355285" y="1068566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388723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>
            <a:extLst>
              <a:ext uri="{FF2B5EF4-FFF2-40B4-BE49-F238E27FC236}">
                <a16:creationId xmlns:a16="http://schemas.microsoft.com/office/drawing/2014/main" id="{DB907563-2AC3-0AEF-0C99-6C8D236B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07" y="164647"/>
            <a:ext cx="4895335" cy="2408231"/>
          </a:xfrm>
          <a:prstGeom prst="rect">
            <a:avLst/>
          </a:prstGeom>
        </p:spPr>
      </p:pic>
      <p:sp>
        <p:nvSpPr>
          <p:cNvPr id="105" name="Title 1">
            <a:extLst>
              <a:ext uri="{FF2B5EF4-FFF2-40B4-BE49-F238E27FC236}">
                <a16:creationId xmlns:a16="http://schemas.microsoft.com/office/drawing/2014/main" id="{5BD9ABED-6246-C4C4-F974-4FCD946E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92" y="-257470"/>
            <a:ext cx="10515600" cy="1325563"/>
          </a:xfrm>
        </p:spPr>
        <p:txBody>
          <a:bodyPr/>
          <a:lstStyle/>
          <a:p>
            <a:r>
              <a:rPr lang="en-US" dirty="0"/>
              <a:t>What are the outputs?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48A8770-A142-78F7-7A6E-BBDCA042B1DA}"/>
              </a:ext>
            </a:extLst>
          </p:cNvPr>
          <p:cNvSpPr txBox="1"/>
          <p:nvPr/>
        </p:nvSpPr>
        <p:spPr>
          <a:xfrm>
            <a:off x="508792" y="1068093"/>
            <a:ext cx="53999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dirty="0"/>
              <a:t>Simulated source only. Row &amp; column entries occur simultaneously. File name is &lt;.sim filename&gt;.ASTEP.&lt;csv or h5&gt;</a:t>
            </a:r>
          </a:p>
          <a:p>
            <a:pPr marL="342900" indent="-342900">
              <a:buAutoNum type="alphaUcParenR"/>
            </a:pPr>
            <a:endParaRPr lang="en-US" dirty="0"/>
          </a:p>
          <a:p>
            <a:pPr marL="342900" indent="-342900">
              <a:buFontTx/>
              <a:buAutoNum type="alphaUcParenR"/>
            </a:pPr>
            <a:r>
              <a:rPr lang="en-US" dirty="0"/>
              <a:t>Simulated source + empirical background. Simulated row &amp; column entries occur simultaneously. Source &amp; background are combined and sorted by FPGA timestamp. Some cleaning of the FPGA timestamps does occur to make it possible to do the sorting. File name is &lt;.sim filename&gt;.</a:t>
            </a:r>
            <a:r>
              <a:rPr lang="en-US" dirty="0" err="1"/>
              <a:t>ASTEP_wBG</a:t>
            </a:r>
            <a:r>
              <a:rPr lang="en-US" dirty="0"/>
              <a:t>.&lt;csv or h5&gt;</a:t>
            </a:r>
          </a:p>
          <a:p>
            <a:pPr marL="342900" indent="-342900">
              <a:buFontTx/>
              <a:buAutoNum type="alphaUcParenR"/>
            </a:pPr>
            <a:endParaRPr lang="en-US" dirty="0"/>
          </a:p>
          <a:p>
            <a:pPr marL="342900" indent="-342900">
              <a:buFontTx/>
              <a:buAutoNum type="alphaUcParenR"/>
            </a:pPr>
            <a:r>
              <a:rPr lang="en-US" dirty="0"/>
              <a:t>Simulated source  + empirical background. Row &amp; column entries that previously occurred within 1 FPGA readout time (currently 42 clock cycles) are sorted &amp; spaced 1 FPGA readout time apart. File name is &lt;.sim filename&gt;.ASTEP(_</a:t>
            </a:r>
            <a:r>
              <a:rPr lang="en-US" dirty="0" err="1"/>
              <a:t>wBG</a:t>
            </a:r>
            <a:r>
              <a:rPr lang="en-US" dirty="0"/>
              <a:t>)_</a:t>
            </a:r>
            <a:r>
              <a:rPr lang="en-US" dirty="0" err="1"/>
              <a:t>wEff</a:t>
            </a:r>
            <a:r>
              <a:rPr lang="en-US" dirty="0"/>
              <a:t>.&lt;csv or h5&gt;</a:t>
            </a:r>
          </a:p>
          <a:p>
            <a:pPr marL="342900" indent="-342900">
              <a:buFontTx/>
              <a:buAutoNum type="alphaUcParenR"/>
            </a:pPr>
            <a:endParaRPr lang="en-US" dirty="0"/>
          </a:p>
          <a:p>
            <a:pPr marL="342900" indent="-342900">
              <a:buAutoNum type="alphaU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0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B6E7-3EC7-1C46-57B9-089715D4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might need changing?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18D4C-5C9E-9152-F224-C54D49EBB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87" y="1838131"/>
            <a:ext cx="3889329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All the parameters live in </a:t>
            </a:r>
            <a:r>
              <a:rPr lang="en-US" dirty="0" err="1"/>
              <a:t>ASTEP_RevCal.py</a:t>
            </a:r>
            <a:endParaRPr lang="en-US" dirty="0"/>
          </a:p>
          <a:p>
            <a:pPr lvl="1"/>
            <a:r>
              <a:rPr lang="en-US" dirty="0"/>
              <a:t>Even if they are used in one of the other scripts, not </a:t>
            </a:r>
            <a:r>
              <a:rPr lang="en-US" dirty="0" err="1"/>
              <a:t>RevCal</a:t>
            </a:r>
            <a:endParaRPr lang="en-US" dirty="0"/>
          </a:p>
          <a:p>
            <a:pPr lvl="1"/>
            <a:r>
              <a:rPr lang="en-US" dirty="0" err="1"/>
              <a:t>RevCal</a:t>
            </a:r>
            <a:r>
              <a:rPr lang="en-US" dirty="0"/>
              <a:t> is always called first, so it is always instantiated before the other scripts. Whereas </a:t>
            </a:r>
            <a:r>
              <a:rPr lang="en-US" dirty="0" err="1"/>
              <a:t>Add_BG</a:t>
            </a:r>
            <a:r>
              <a:rPr lang="en-US" dirty="0"/>
              <a:t> is sometimes not used but might share needed parameters with </a:t>
            </a:r>
            <a:r>
              <a:rPr lang="en-US" dirty="0" err="1"/>
              <a:t>Add_Effects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1218DC-3F18-E845-68ED-D42E1711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012" y="1379666"/>
            <a:ext cx="7893988" cy="526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02CDE-FDB7-0FFF-B15A-6DA83B8D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1E92-B3B2-77FA-74FA-29C4234A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parameters?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96188-DF7A-EA3D-2140-68D0188E9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012" y="1379666"/>
            <a:ext cx="7893988" cy="526826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D9A65-D2E3-EC8B-6C34-6F90B3F62A91}"/>
              </a:ext>
            </a:extLst>
          </p:cNvPr>
          <p:cNvCxnSpPr>
            <a:cxnSpLocks/>
          </p:cNvCxnSpPr>
          <p:nvPr/>
        </p:nvCxnSpPr>
        <p:spPr>
          <a:xfrm flipV="1">
            <a:off x="2987749" y="1581665"/>
            <a:ext cx="1448327" cy="20460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D88A7A-3760-7F2C-2712-897CB41D9D7E}"/>
              </a:ext>
            </a:extLst>
          </p:cNvPr>
          <p:cNvSpPr txBox="1"/>
          <p:nvPr/>
        </p:nvSpPr>
        <p:spPr>
          <a:xfrm>
            <a:off x="712383" y="1581665"/>
            <a:ext cx="2275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from </a:t>
            </a:r>
            <a:r>
              <a:rPr lang="en-US" dirty="0" err="1"/>
              <a:t>x,z</a:t>
            </a:r>
            <a:r>
              <a:rPr lang="en-US" dirty="0"/>
              <a:t> = 0 to inner edge of chip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52BBA-3951-4819-6A11-06A4B761C6FB}"/>
              </a:ext>
            </a:extLst>
          </p:cNvPr>
          <p:cNvSpPr txBox="1"/>
          <p:nvPr/>
        </p:nvSpPr>
        <p:spPr>
          <a:xfrm>
            <a:off x="712383" y="2356479"/>
            <a:ext cx="2275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between centers of chips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C3F7F-4F75-15F6-2A02-14BA3356FB63}"/>
              </a:ext>
            </a:extLst>
          </p:cNvPr>
          <p:cNvCxnSpPr>
            <a:cxnSpLocks/>
          </p:cNvCxnSpPr>
          <p:nvPr/>
        </p:nvCxnSpPr>
        <p:spPr>
          <a:xfrm flipV="1">
            <a:off x="2987749" y="2368714"/>
            <a:ext cx="1448327" cy="20460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9F363C-0A7D-F7E3-14AA-3464631E3B2B}"/>
              </a:ext>
            </a:extLst>
          </p:cNvPr>
          <p:cNvSpPr txBox="1"/>
          <p:nvPr/>
        </p:nvSpPr>
        <p:spPr>
          <a:xfrm>
            <a:off x="712383" y="3066975"/>
            <a:ext cx="2275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X,Z positions of first pixel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14B819-826C-D67C-2DD8-C6522DE8F87E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87749" y="3390141"/>
            <a:ext cx="1310263" cy="103300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1FE81F-740E-4819-4B7B-6A425CD366EB}"/>
              </a:ext>
            </a:extLst>
          </p:cNvPr>
          <p:cNvSpPr txBox="1"/>
          <p:nvPr/>
        </p:nvSpPr>
        <p:spPr>
          <a:xfrm>
            <a:off x="712383" y="3777471"/>
            <a:ext cx="2275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time delay between (</a:t>
            </a:r>
            <a:r>
              <a:rPr lang="en-US" dirty="0" err="1"/>
              <a:t>AstroPix</a:t>
            </a:r>
            <a:r>
              <a:rPr lang="en-US" dirty="0"/>
              <a:t> timestamp + </a:t>
            </a:r>
            <a:r>
              <a:rPr lang="en-US" dirty="0" err="1"/>
              <a:t>ToT</a:t>
            </a:r>
            <a:r>
              <a:rPr lang="en-US" dirty="0"/>
              <a:t>) and FPGA timestamp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76CCE4-8677-9DD1-0CC7-C8AAFCD2320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987749" y="4377636"/>
            <a:ext cx="1436081" cy="143054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2110EAB-0E98-6B13-2323-B6514B48FD99}"/>
              </a:ext>
            </a:extLst>
          </p:cNvPr>
          <p:cNvSpPr txBox="1"/>
          <p:nvPr/>
        </p:nvSpPr>
        <p:spPr>
          <a:xfrm>
            <a:off x="712383" y="5055520"/>
            <a:ext cx="2275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for FPGA timestamp cleaning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04D630-7523-2B08-F005-52F34B39C30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987749" y="5378686"/>
            <a:ext cx="1436081" cy="78821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7FA1F2-14BE-CA51-7DF7-8505C7662584}"/>
              </a:ext>
            </a:extLst>
          </p:cNvPr>
          <p:cNvSpPr txBox="1"/>
          <p:nvPr/>
        </p:nvSpPr>
        <p:spPr>
          <a:xfrm>
            <a:off x="712383" y="5809357"/>
            <a:ext cx="2275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FPGA clock ticks it takes to read out 1 entry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A248A9-C235-DA6B-412F-34BF079AE809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987749" y="6271022"/>
            <a:ext cx="1436081" cy="229634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6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558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A-STEP DEE</vt:lpstr>
      <vt:lpstr>What is it?</vt:lpstr>
      <vt:lpstr>How do I use it?</vt:lpstr>
      <vt:lpstr>What are the outputs?</vt:lpstr>
      <vt:lpstr>What are the outputs?</vt:lpstr>
      <vt:lpstr>What might need changing?</vt:lpstr>
      <vt:lpstr>What are the parameters?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Metzler, Zachary B. (GSFC-661.0)[UNIVERSITY OF MARYLAND AT COLLEGE PARK]</dc:creator>
  <cp:lastModifiedBy>Metzler, Zachary B. (GSFC-661.0)[UNIVERSITY OF MARYLAND AT COLLEGE PARK]</cp:lastModifiedBy>
  <cp:revision>2</cp:revision>
  <dcterms:created xsi:type="dcterms:W3CDTF">2025-12-11T16:34:59Z</dcterms:created>
  <dcterms:modified xsi:type="dcterms:W3CDTF">2025-12-11T20:01:42Z</dcterms:modified>
</cp:coreProperties>
</file>